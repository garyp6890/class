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79662aa1a4123" /><Relationship Type="http://schemas.openxmlformats.org/officeDocument/2006/relationships/extended-properties" Target="/docProps/app.xml" Id="R01af802bfb164dfb" /><Relationship Type="http://schemas.openxmlformats.org/officeDocument/2006/relationships/officeDocument" Target="/ppt/presentation.xml" Id="R68f774c4dcf9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5a4e4d6194d91"/>
  </p:sldMasterIdLst>
  <p:notesMasterIdLst>
    <p:notesMasterId xmlns:r="http://schemas.openxmlformats.org/officeDocument/2006/relationships" r:id="Rc8888b78a66c437a"/>
  </p:notesMasterIdLst>
  <p:sldIdLst>
    <p:sldId xmlns:r="http://schemas.openxmlformats.org/officeDocument/2006/relationships" id="256" r:id="R6eedf4aaeda44a58"/>
    <p:sldId xmlns:r="http://schemas.openxmlformats.org/officeDocument/2006/relationships" id="257" r:id="R591f8760a1ec4bbb"/>
    <p:sldId xmlns:r="http://schemas.openxmlformats.org/officeDocument/2006/relationships" id="258" r:id="R40ff0171a4ff4fa1"/>
    <p:sldId xmlns:r="http://schemas.openxmlformats.org/officeDocument/2006/relationships" id="259" r:id="R8d3d8111aa5842a2"/>
    <p:sldId xmlns:r="http://schemas.openxmlformats.org/officeDocument/2006/relationships" id="260" r:id="R5212e56dcbf8493c"/>
    <p:sldId xmlns:r="http://schemas.openxmlformats.org/officeDocument/2006/relationships" id="261" r:id="R6820713c5e2c4731"/>
    <p:sldId xmlns:r="http://schemas.openxmlformats.org/officeDocument/2006/relationships" id="262" r:id="R37cfa0515e1b4816"/>
    <p:sldId xmlns:r="http://schemas.openxmlformats.org/officeDocument/2006/relationships" id="263" r:id="R79032658c0ac4578"/>
    <p:sldId xmlns:r="http://schemas.openxmlformats.org/officeDocument/2006/relationships" id="264" r:id="Rada16b79babd4613"/>
    <p:sldId xmlns:r="http://schemas.openxmlformats.org/officeDocument/2006/relationships" id="265" r:id="Rc19ce55907d94599"/>
    <p:sldId xmlns:r="http://schemas.openxmlformats.org/officeDocument/2006/relationships" id="266" r:id="R1092073e1db74e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b8bcaddf614d51" /><Relationship Type="http://schemas.openxmlformats.org/officeDocument/2006/relationships/slideMaster" Target="/ppt/slideMasters/slideMaster1.xml" Id="R9545a4e4d6194d91" /><Relationship Type="http://schemas.openxmlformats.org/officeDocument/2006/relationships/notesMaster" Target="/ppt/notesMasters/notesMaster1.xml" Id="Rc8888b78a66c437a" /><Relationship Type="http://schemas.openxmlformats.org/officeDocument/2006/relationships/presProps" Target="/ppt/presProps.xml" Id="Rdd63b05ec6084352" /><Relationship Type="http://schemas.openxmlformats.org/officeDocument/2006/relationships/tableStyles" Target="/ppt/tableStyles.xml" Id="Rb0f46c958684481c" /><Relationship Type="http://schemas.openxmlformats.org/officeDocument/2006/relationships/slide" Target="/ppt/slides/slide1.xml" Id="R6eedf4aaeda44a58" /><Relationship Type="http://schemas.openxmlformats.org/officeDocument/2006/relationships/slide" Target="/ppt/slides/slide2.xml" Id="R591f8760a1ec4bbb" /><Relationship Type="http://schemas.openxmlformats.org/officeDocument/2006/relationships/slide" Target="/ppt/slides/slide3.xml" Id="R40ff0171a4ff4fa1" /><Relationship Type="http://schemas.openxmlformats.org/officeDocument/2006/relationships/slide" Target="/ppt/slides/slide4.xml" Id="R8d3d8111aa5842a2" /><Relationship Type="http://schemas.openxmlformats.org/officeDocument/2006/relationships/slide" Target="/ppt/slides/slide5.xml" Id="R5212e56dcbf8493c" /><Relationship Type="http://schemas.openxmlformats.org/officeDocument/2006/relationships/slide" Target="/ppt/slides/slide6.xml" Id="R6820713c5e2c4731" /><Relationship Type="http://schemas.openxmlformats.org/officeDocument/2006/relationships/slide" Target="/ppt/slides/slide7.xml" Id="R37cfa0515e1b4816" /><Relationship Type="http://schemas.openxmlformats.org/officeDocument/2006/relationships/slide" Target="/ppt/slides/slide8.xml" Id="R79032658c0ac4578" /><Relationship Type="http://schemas.openxmlformats.org/officeDocument/2006/relationships/slide" Target="/ppt/slides/slide9.xml" Id="Rada16b79babd4613" /><Relationship Type="http://schemas.openxmlformats.org/officeDocument/2006/relationships/slide" Target="/ppt/slides/slide10.xml" Id="Rc19ce55907d94599" /><Relationship Type="http://schemas.openxmlformats.org/officeDocument/2006/relationships/slide" Target="/ppt/slides/slide11.xml" Id="R1092073e1db74e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bd34b13c6047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7b619b49124bff" /><Relationship Type="http://schemas.openxmlformats.org/officeDocument/2006/relationships/notesMaster" Target="/ppt/notesMasters/notesMaster1.xml" Id="R4d643a1f18454a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96ca760b0c4c45" /><Relationship Type="http://schemas.openxmlformats.org/officeDocument/2006/relationships/notesMaster" Target="/ppt/notesMasters/notesMaster1.xml" Id="Ra164d876d0ff4c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68ef44ae15484a" /><Relationship Type="http://schemas.openxmlformats.org/officeDocument/2006/relationships/notesMaster" Target="/ppt/notesMasters/notesMaster1.xml" Id="Rfb9007e6cf50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8f10b320ad49ec" /><Relationship Type="http://schemas.openxmlformats.org/officeDocument/2006/relationships/notesMaster" Target="/ppt/notesMasters/notesMaster1.xml" Id="Rc18ff2c250c2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04b5484eba4714" /><Relationship Type="http://schemas.openxmlformats.org/officeDocument/2006/relationships/notesMaster" Target="/ppt/notesMasters/notesMaster1.xml" Id="R8e2f2517f54d4d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56af8321004cd6" /><Relationship Type="http://schemas.openxmlformats.org/officeDocument/2006/relationships/notesMaster" Target="/ppt/notesMasters/notesMaster1.xml" Id="R9ce3554ee04b40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b120d0677b49ba" /><Relationship Type="http://schemas.openxmlformats.org/officeDocument/2006/relationships/notesMaster" Target="/ppt/notesMasters/notesMaster1.xml" Id="Rb1aab48ce2dc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a750f2966e483b" /><Relationship Type="http://schemas.openxmlformats.org/officeDocument/2006/relationships/notesMaster" Target="/ppt/notesMasters/notesMaster1.xml" Id="Rd2c0ad69bf294c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b4f10ee99a433d" /><Relationship Type="http://schemas.openxmlformats.org/officeDocument/2006/relationships/notesMaster" Target="/ppt/notesMasters/notesMaster1.xml" Id="R3101ec39066e4e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07078f1a64a32" /><Relationship Type="http://schemas.openxmlformats.org/officeDocument/2006/relationships/notesMaster" Target="/ppt/notesMasters/notesMaster1.xml" Id="Rd19de0bc03ac42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c7eac0269f4e35" /><Relationship Type="http://schemas.openxmlformats.org/officeDocument/2006/relationships/notesMaster" Target="/ppt/notesMasters/notesMaster1.xml" Id="R8ca183750d3b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Garyad Passmore | CS 6338 | Dr. Erdogan Dogdu. Final capstone. Measured results are from the repository results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data/dataset_info.json and data/eval_queries.json. MITRE ATT&amp;CK license retained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run_pipeline.py, structured_ingest.py, engine.py. Structured STIX relations are stored separately and never used to fill missing extracted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schemas.py, schema.cypher, ingest.py. Domain relationships are USES, MITIGATED_BY, ASSOCIATED_WITH; no campaign execution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results/extraction_metrics.json and extraction.json. Scores are against STIX silver labels; catalog-assisted extraction, not open-world entity discovery.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results/analytics_42.json and graph_vectors_42.json. PageRank describes centrality in the selected undirected graph, not threat severity. GDS parameters and per-seed vectors are retained. https://neo4j.com/docs/graph-data-science/current/machine-learning/node-embeddings/node2vec/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engine.py and run_pipeline.py. All conditions use llama3.1:8b, temperature zero, the same prompts and context budget. Graph neighbors only propose candidates; graph relations still require persisted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results/benchmark_summary.csv. Pooled observations repeat the same 20 questions. Evidence recall measures reference source documents in packed contexts; it is not answer accuracy. Errors are reported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results/benchmark_summary.csv, ragas_summary.json, and human_review.csv. Timing includes loading when it occurs; no controlled warm-model experiment. RAGAS uses local qwen2.5:14b over all 20 questions in all three conditions for seed 42. Factual F1 cells show mean (finite 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results/benchmark_42.json, qa-01, hybrid. Full source IDs and raw model response are in the saved artifact. qa-01 reference ends in User Training (M1017), not the reg save command. The example is deliberately retained as a factual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artifacts and all limitations are in the final report and README. Live demo uses the API documentation page and Neo4j Browser; it shows saved complete experiments and a live request without claiming that all experiments run in six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6b68d3fb348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bd9eaeba446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03a94c1c345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84b39b4074b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01a2bef4648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ca3d3a7bc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C0F011-7E17-4A81-9AD2-C02DBF8E1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2DF1DF-383E-4DE4-85A8-A41403F5BF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54CB53-D59E-420F-973F-1B8AA2277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657165-2E6C-4795-B432-EC4C924C0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711BBB-8AEB-490D-A285-933BB3E71A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B85B3D-9A2B-4CD6-9C61-720F6712F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BCBB1F-D235-42A2-8E52-07E0D4A2B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763814-FC45-45DF-B85E-F798F3296F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8ED2A4-2740-4695-9533-6F7E08389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EE8444-5D6D-4AFC-862D-95474D246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b0b2efb694cfe" /><Relationship Type="http://schemas.openxmlformats.org/officeDocument/2006/relationships/slideLayout" Target="/ppt/slideLayouts/slideLayout1.xml" Id="Rcd8639ec4e8e488a" /><Relationship Type="http://schemas.openxmlformats.org/officeDocument/2006/relationships/slideLayout" Target="/ppt/slideLayouts/slideLayout2.xml" Id="R1a76f79aaab84929" /><Relationship Type="http://schemas.openxmlformats.org/officeDocument/2006/relationships/slideLayout" Target="/ppt/slideLayouts/slideLayout3.xml" Id="Rc59b0dd427ac4c80" /><Relationship Type="http://schemas.openxmlformats.org/officeDocument/2006/relationships/slideLayout" Target="/ppt/slideLayouts/slideLayout4.xml" Id="R4d4dd1a8db6b4a32" /><Relationship Type="http://schemas.openxmlformats.org/officeDocument/2006/relationships/slideLayout" Target="/ppt/slideLayouts/slideLayout5.xml" Id="R7d24d53f52734a27" /><Relationship Type="http://schemas.openxmlformats.org/officeDocument/2006/relationships/slideLayout" Target="/ppt/slideLayouts/slideLayout6.xml" Id="R32efae19a98c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8639ec4e8e488a"/>
    <p:sldLayoutId xmlns:r="http://schemas.openxmlformats.org/officeDocument/2006/relationships" id="2147483650" r:id="R1a76f79aaab84929"/>
    <p:sldLayoutId xmlns:r="http://schemas.openxmlformats.org/officeDocument/2006/relationships" id="2147483651" r:id="Rc59b0dd427ac4c80"/>
    <p:sldLayoutId xmlns:r="http://schemas.openxmlformats.org/officeDocument/2006/relationships" id="2147483652" r:id="R4d4dd1a8db6b4a32"/>
    <p:sldLayoutId xmlns:r="http://schemas.openxmlformats.org/officeDocument/2006/relationships" id="2147483653" r:id="R7d24d53f52734a27"/>
    <p:sldLayoutId xmlns:r="http://schemas.openxmlformats.org/officeDocument/2006/relationships" id="2147483654" r:id="R32efae19a98c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eddad6dc44289" /><Relationship Type="http://schemas.openxmlformats.org/officeDocument/2006/relationships/notesSlide" Target="/ppt/notesSlides/notesSlide1.xml" Id="R524dc2fdbe5740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c13eabe454773" /><Relationship Type="http://schemas.openxmlformats.org/officeDocument/2006/relationships/notesSlide" Target="/ppt/notesSlides/notesSlide2.xml" Id="Rcefca32883814c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b3a1670824531" /><Relationship Type="http://schemas.openxmlformats.org/officeDocument/2006/relationships/notesSlide" Target="/ppt/notesSlides/notesSlide3.xml" Id="R58bcef478b5e40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54d992a7c34015" /><Relationship Type="http://schemas.openxmlformats.org/officeDocument/2006/relationships/notesSlide" Target="/ppt/notesSlides/notesSlide4.xml" Id="Rc715719eeaaa48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d8802b2b3480b" /><Relationship Type="http://schemas.openxmlformats.org/officeDocument/2006/relationships/notesSlide" Target="/ppt/notesSlides/notesSlide5.xml" Id="R39e698b66c6443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8bf1930ca4c2c" /><Relationship Type="http://schemas.openxmlformats.org/officeDocument/2006/relationships/notesSlide" Target="/ppt/notesSlides/notesSlide6.xml" Id="R8cee4717331641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ae7de776e49bd" /><Relationship Type="http://schemas.openxmlformats.org/officeDocument/2006/relationships/notesSlide" Target="/ppt/notesSlides/notesSlide7.xml" Id="Ra392d74c02504a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bcab4d3464610" /><Relationship Type="http://schemas.openxmlformats.org/officeDocument/2006/relationships/notesSlide" Target="/ppt/notesSlides/notesSlide8.xml" Id="Rc20cd13902ae4d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c70ce32c848f7" /><Relationship Type="http://schemas.openxmlformats.org/officeDocument/2006/relationships/notesSlide" Target="/ppt/notesSlides/notesSlide9.xml" Id="R3c9613b3ddd84e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a558896674e17" /><Relationship Type="http://schemas.openxmlformats.org/officeDocument/2006/relationships/notesSlide" Target="/ppt/notesSlides/notesSlide10.xml" Id="R7e9cfdcdc4b34e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20f07231542f6" /><Relationship Type="http://schemas.openxmlformats.org/officeDocument/2006/relationships/notesSlide" Target="/ppt/notesSlides/notesSlide11.xml" Id="Rdcf3f7ee70c947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426B6-9DE3-4814-A7B8-27003E8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Cyber Threat Intelligence</a:t>
            </a:r>
          </a:p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GraphRAG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236D9-B51C-4BE1-9DB6-11F2DE0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2FDE6-AAE8-4B63-9A8E-CB9C74BE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D4DA4-FAAD-430C-A4A7-EF635DBA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Garyad Passmore  /  CS 6338  /  Final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FA9EB-FDAC-404B-8960-F9468D78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Threat group   →   Technique   →   Mitigation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1D1A7-8FA7-4E4F-B3BC-C71C8AB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Local extraction, graph analytics, and answers with traceable source evidence</a:t>
            </a:r>
          </a:p>
        </p:txBody>
      </p:sp>
    </p:spTree>
    <p:extLst>
      <p:ext uri="{BB962C8B-B14F-4D97-AF65-F5344CB8AC3E}">
        <p14:creationId xmlns:p14="http://schemas.microsoft.com/office/powerpoint/2010/main" val="504669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13A1B-C8C8-46B1-B1E8-7752CD69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A controlled CTI corpus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8D9E9-6D4D-4CBF-BAEB-B43E3FE2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E1DAD-AA19-4BBD-9F39-F34F34EE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22890-ADD3-407E-82DD-DFB52363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1113B-59EA-49DF-BA6C-0E6D1B4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narratives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FF7A5-6800-4AED-9EC9-E23FDA51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57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8EAD3-C662-449C-A678-E7CD16E9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canonical entities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77A71-2215-4FDE-B4DB-67B8FCE4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90BA9-97B0-45DA-B2D6-B61365F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test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B3F62-A57F-41C7-8721-CA25ADDD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12 development / 48 test extraction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16C60-AE6F-4985-9D09-0EADC84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Frozen ATT&amp;CK 19.2 subset; endpoint identities are supplied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EF08C-F7AA-48C2-8AC1-DDCC8A8B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STIX silver labels still require independent human review</a:t>
            </a:r>
          </a:p>
        </p:txBody>
      </p:sp>
    </p:spTree>
    <p:extLst>
      <p:ext uri="{BB962C8B-B14F-4D97-AF65-F5344CB8AC3E}">
        <p14:creationId xmlns:p14="http://schemas.microsoft.com/office/powerpoint/2010/main" val="824191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C24FE-4FEA-445C-8C1C-EE2954F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Offline construction and online answering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6D3DA-9751-4172-9F28-EA356EC8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9FE25-3F35-4CE5-8F1C-4EC4061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E170B-ADB5-41F1-9222-FEC7E99E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7D3C6-A3E7-42F9-9A76-D97075E3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Narrative +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35DE4-34A0-4124-8EF0-7E1ED35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145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169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A28C6-F6A8-4E07-9D2A-AA8930A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4787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1DED9-9245-49AA-B566-3D39082C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+ strict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A90C4-2B6B-425B-8144-B778CF6E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145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169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29FAB-0003-452A-987D-1D8E4297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4787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5B0CD-55BA-41C8-A9E8-11E20349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383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Neo4j +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5E511-49A7-425B-B682-0D0F4DF7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145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169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1576C-FA3F-4F06-9374-3A947CAD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4787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C9E80-62F2-41CB-ACF0-FD1C2482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383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GDS + text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vector indexes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A74AF-8AAF-410D-91C5-0FC3E3AF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2A7ED-5DE7-432D-BCA3-32FCEE72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+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anchors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F9266-AF2C-4999-AB3B-AFEC974B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14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169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9CB6A-5886-4B10-9843-04EBE516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4812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05714-18B4-47ED-A732-959126F0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386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 + bounded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 retrieval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27E05-B05A-4DB9-A08F-C091D544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14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169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7F24F-8A45-445C-9581-F690C5D0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4812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CE424-4475-4243-AF17-F758BBC2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386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 fusion +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packing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E2554-4ED7-4EDB-9782-E4B1900D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31482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5169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382DC-8127-4F6C-BAB2-88C2F37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048125"/>
            <a:ext cx="2428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93F26-68C6-4F88-9C24-0C0CD5F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386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 +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citation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F68345-72CF-4736-BDD6-58E7281C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Reference answers enter only the evaluation harness</a:t>
            </a:r>
          </a:p>
        </p:txBody>
      </p:sp>
    </p:spTree>
    <p:extLst>
      <p:ext uri="{BB962C8B-B14F-4D97-AF65-F5344CB8AC3E}">
        <p14:creationId xmlns:p14="http://schemas.microsoft.com/office/powerpoint/2010/main" val="225267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CFD57-E030-4FED-88FA-22AB9751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Directed facts retain their 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C08B5-D668-48F0-A7F3-685B0D8D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DF0F6-CAEB-44C1-A65B-3201CA44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58159-AF91-43D8-9F62-E165E20A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661AB-DEA8-48B3-B227-96A3BFC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ThreatGroup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6EF5E-038B-48D7-8164-B1DBCD12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1CBDB-E116-4633-81A9-012C9FD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089E0-2128-4684-A127-3C1CAD00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190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8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658DA-1442-4A6A-BA12-0830D47B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8F3D1-31F8-4E39-A371-C477CC5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USES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482A2-C517-4F00-A07F-757BFECE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MITIGATED_BY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1E268-1EFD-43C1-98D2-BBD52162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Assertion → SUPPORTED_BY → Chunk → SourceDocument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8A6D2-2FBC-4A28-99CD-DCDEB08C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Stable IDs • confidence • verbatim evidence • source URL</a:t>
            </a:r>
          </a:p>
        </p:txBody>
      </p:sp>
    </p:spTree>
    <p:extLst>
      <p:ext uri="{BB962C8B-B14F-4D97-AF65-F5344CB8AC3E}">
        <p14:creationId xmlns:p14="http://schemas.microsoft.com/office/powerpoint/2010/main" val="1267325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B5583-E0AB-485C-9598-AE1A162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Live extraction: exact-match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AF0D6-74B2-4CB8-B962-EAA49A3C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CDC25-8F42-4693-88C5-DEDA3974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FA726-105B-4C40-9511-D2AE7ED9C833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057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2619375"/>
                <a:gridCol w="2619375"/>
                <a:gridCol w="2638425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0.833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0.909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0.970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0.790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0C1C7-2973-4C17-ABEF-7623AC1A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17 quarantined records; raw attempts and errors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008A2-BC4F-44C3-A0C8-5534B0B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Validation checks IDs, direction, confidence, and verbatim evidence</a:t>
            </a:r>
          </a:p>
        </p:txBody>
      </p:sp>
    </p:spTree>
    <p:extLst>
      <p:ext uri="{BB962C8B-B14F-4D97-AF65-F5344CB8AC3E}">
        <p14:creationId xmlns:p14="http://schemas.microsoft.com/office/powerpoint/2010/main" val="1955407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108DD-7263-4F89-8F78-95020ED4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Graph analytics and 128-D Node2Vec executed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472AF-F50B-4D95-831A-9EB5E170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9BF39-046E-4F70-9527-F4319034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F7B4D-3A6D-45D5-9D8D-34E1C891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50 entities  /  86 projected edges  /  11 components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65F59-8835-4072-B4AD-7B78F65DE2C6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41148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 PageRank entity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G0007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6.8351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G0046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2.1283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T1005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1.9425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M1017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1.6445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AA1CE-4720-42D5-A7E9-815ED11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Node2Vec: 128-D • 80 walks/node • length 30 • seeds 42/43/44</a:t>
            </a:r>
          </a:p>
        </p:txBody>
      </p:sp>
    </p:spTree>
    <p:extLst>
      <p:ext uri="{BB962C8B-B14F-4D97-AF65-F5344CB8AC3E}">
        <p14:creationId xmlns:p14="http://schemas.microsoft.com/office/powerpoint/2010/main" val="1063153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DC739-CC65-4B2E-8B97-8E60BF25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Three retrieval conditions share one generator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D1C79-6917-4279-887F-6E2A3027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806A7-E877-4A3D-9980-89F28E3B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CDB35-32A1-4E59-A579-4BA05982FE7C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2095500"/>
                <a:gridCol w="2476500"/>
                <a:gridCol w="3114675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Text search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Graph paths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Node2Vec proposals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Text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Hybrid, no Node2Vec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Hybrid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D3C97-7A4B-47E8-8CAC-20F2304D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RRF k=60 • up to two hops • default five chunks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6B85E-BAC9-4078-A40B-3B32D603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Packed evidence capped at 6,000 bytes; unsupported facts removed</a:t>
            </a:r>
          </a:p>
        </p:txBody>
      </p:sp>
    </p:spTree>
    <p:extLst>
      <p:ext uri="{BB962C8B-B14F-4D97-AF65-F5344CB8AC3E}">
        <p14:creationId xmlns:p14="http://schemas.microsoft.com/office/powerpoint/2010/main" val="381809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3F710-1A57-43A2-ABF5-4C53B675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Paired benchmark across seeds 42, 43, and 44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345A5-BFD3-4898-A35B-7BE51D5E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11EC8-4DA8-423A-96D9-6FCB7DDF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3456B-7F37-4F7E-9792-FAA003B73FF3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2762250"/>
                <a:gridCol w="2667000"/>
                <a:gridCol w="2257425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/ errors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recall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Abstention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Text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60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0.675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Hybrid, no Node2Vec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60 / 0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0.625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0.050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Hybrid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60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4050D-0589-4CC3-981E-92C5985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Citation membership and path-ID coverage are diagnostics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490D-101E-49CB-975F-00FCEA6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They do not establish claim-level factual correctness</a:t>
            </a:r>
          </a:p>
        </p:txBody>
      </p:sp>
    </p:spTree>
    <p:extLst>
      <p:ext uri="{BB962C8B-B14F-4D97-AF65-F5344CB8AC3E}">
        <p14:creationId xmlns:p14="http://schemas.microsoft.com/office/powerpoint/2010/main" val="829163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C6E0C-0450-4B8F-8ED8-231218FB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Latency and local factual correctness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61D73-966F-488F-9428-943AB36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5A31A-9D53-45DE-BF88-4DF42B8E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76772-B018-48AA-B13B-22E5A5463D80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2524125"/>
                <a:gridCol w="2524125"/>
                <a:gridCol w="2638425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Retrieval p95 (s)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p95 (s)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Judge factual F1</a:t>
                      </a:r>
                    </a:p>
                  </a:txBody>
                  <a:tcPr marL="91440" marR="91440" marT="45720" marB="45720">
                    <a:solidFill>
                      <a:srgbClr val="1738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Text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1.07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0.246 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Hybrid, no Node2Vec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0.07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1.14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0.413 (20)</a:t>
                      </a:r>
                    </a:p>
                  </a:txBody>
                  <a:tcPr marL="91440" marR="91440" marT="45720" marB="45720">
                    <a:solidFill>
                      <a:srgbClr val="EAF1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Hybrid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1.04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D"/>
                          </a:solidFill>
                          <a:latin typeface="Arial"/>
                          <a:ea typeface="Arial"/>
                          <a:cs typeface="Arial"/>
                        </a:rPr>
                        <a:t>0.383 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CAB60-118B-4C93-8D78-BE9B164E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Judge audit: all 20 questions × three modes, seed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A4B0B-894B-46D7-B0A2-792425B8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Human ratings remain blank until a person reviews the answers</a:t>
            </a:r>
          </a:p>
        </p:txBody>
      </p:sp>
    </p:spTree>
    <p:extLst>
      <p:ext uri="{BB962C8B-B14F-4D97-AF65-F5344CB8AC3E}">
        <p14:creationId xmlns:p14="http://schemas.microsoft.com/office/powerpoint/2010/main" val="2110205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63E28-B07A-49E5-9DDE-96CB5D8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Failure case: the answer mislabels a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BFE25-86F2-41D4-90BA-173BF56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E3597-BFD6-4870-BB8F-0E0E1A2A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BE234-35AD-4DDA-A947-64F4212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qa-01  /  hybrid  /  seed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DD8BC-68B0-4F69-BAAA-AF0A380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572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The mitigation linked to Security Account Manager (T1003.002) as reported for APT29 is 'reg save' command to save registry hives. The two-edge evidence path is: APT29 (G0016) -&gt; Security Account Manager (T1003.002) -&gt; 'reg save' command to save registry hives.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F20FF-D57B-4750-8C93-4EEB16C0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A843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843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4332"/>
                </a:solidFill>
                <a:latin typeface="Arial"/>
                <a:ea typeface="Arial"/>
                <a:cs typeface="Arial"/>
              </a:rPr>
              <a:t>Reference mitigation: User Training (M1017)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82145-C0DF-41D0-9CF7-8A3E52AC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1 cited chunk  /  5 packed graph facts</a:t>
            </a:r>
          </a:p>
        </p:txBody>
      </p:sp>
    </p:spTree>
    <p:extLst>
      <p:ext uri="{BB962C8B-B14F-4D97-AF65-F5344CB8AC3E}">
        <p14:creationId xmlns:p14="http://schemas.microsoft.com/office/powerpoint/2010/main" val="12581603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F1B46-171F-49C8-BC6C-FCD7508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D"/>
                </a:solidFill>
                <a:latin typeface="Arial"/>
                <a:ea typeface="Arial"/>
                <a:cs typeface="Arial"/>
              </a:rPr>
              <a:t>What the capstone establishes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790B9-568C-49DF-8141-3C39F629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3982A-D3D8-46E7-A3A9-9951F7A0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169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169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74D59-543D-434A-8A56-13108D4E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Executed: local extraction, transactional ingestion, GDS, and GraphRAG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3AA3E-A10F-4462-93F0-758A61C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Measured: paired retrieval conditions, citations, abstentions, and 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204C8-88FC-497B-82B6-5833BCD1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Limits: small corpus, silver labels, shared sources, positive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2B6C-A016-44BA-8F3A-C1FAEA59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D"/>
                </a:solidFill>
                <a:latin typeface="Arial"/>
                <a:ea typeface="Arial"/>
                <a:cs typeface="Arial"/>
              </a:rPr>
              <a:t>Next: independent label review and claim-level citation assessment</a:t>
            </a:r>
          </a:p>
        </p:txBody>
      </p:sp>
    </p:spTree>
    <p:extLst>
      <p:ext uri="{BB962C8B-B14F-4D97-AF65-F5344CB8AC3E}">
        <p14:creationId xmlns:p14="http://schemas.microsoft.com/office/powerpoint/2010/main" val="1691680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2026-10-17T03:26:07.4080000Z</dcterms:created>
  <dcterms:modified xsi:type="dcterms:W3CDTF">2026-10-17T03:26:07.4080000Z</dcterms:modified>
</coreProperties>
</file>